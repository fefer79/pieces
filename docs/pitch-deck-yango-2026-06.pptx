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fernando.kouame@gmail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Moins de véhicules à l'arrêt. Plus de courses. Plus de commission.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Pièces réduit le temps d'immobilisation des véhicules de votre réseau partenaire — et augmente mécaniquement le volume de courses sur la plateforme Yango.</a:t>
            </a:r>
          </a:p>
          <a:p>
            <a:pPr lvl="0" indent="0" marL="1270000">
              <a:buNone/>
            </a:pPr>
            <a:r>
              <a:rPr sz="2000"/>
              <a:t>Chaque véhicule cloué pour une pièce, c'est </a:t>
            </a:r>
            <a:r>
              <a:rPr sz="2000" b="1"/>
              <a:t>une journée de courses perdue</a:t>
            </a:r>
            <a:r>
              <a:rPr sz="2000"/>
              <a:t> — pour le chauffeur, pour le partenaire, et pour Yango. Pièces s'attaque précisément à cette cause d'immobilisation. Notre intérêt est aligné sur le vôtre : plus vos véhicules roulent, plus vous percevez de commission.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contexte d'une flotte VTC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Réalité du terrain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44 000 km/an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Parcourus par un véhicule VTC — soit 3× un véhicule particulier. Tous les intervalles d'entretien se compriment d'autant.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24–48 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D'immobilisation dès qu'une pièce critique manque (plaquette, amortisseur, courroie, pneu).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15 000–30 000 FCFA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 recette journalière perdue par véhicule à l'arrêt — donc de base de commission non perçue.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intérêt strictement aligné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Votre revenu est une fraction des courses réalisées. Le facteur qui limite ce volume n'est pas seulement la demande : c'est aussi le </a:t>
            </a:r>
            <a:r>
              <a:rPr b="1"/>
              <a:t>nombre de véhicules effectivement disponibles</a:t>
            </a:r>
            <a:r>
              <a:rPr/>
              <a:t> chaque jour. Sur une flotte VTC à Abidjan, cette indisponibilité est largement causée par l'entretien et les ruptures de pièces.</a:t>
            </a:r>
          </a:p>
          <a:p>
            <a:pPr lvl="0" indent="0" marL="0">
              <a:buNone/>
            </a:pPr>
            <a:r>
              <a:rPr/>
              <a:t>La santé mécanique de la flotte partenaire est donc </a:t>
            </a:r>
            <a:r>
              <a:rPr b="1"/>
              <a:t>un déterminant direct de votre volume de courses</a:t>
            </a:r>
            <a:r>
              <a:rPr/>
              <a:t> — un levier que personne n'opère aujourd'hui.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coût caché pour votre écosystème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Réalité de la flotte partenaire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Conséquence pour Yango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Pièce critique manquante</a:t>
                      </a:r>
                      <a:r>
                        <a:rPr/>
                        <a:t> — véhicule cloué 24–48 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Courses non réalisées → commission non perçue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Pièces contrefaites</a:t>
                      </a:r>
                      <a:r>
                        <a:rPr/>
                        <a:t> — re-panne sous quelques semaines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Immobilisations répétées → chauffeurs découragés → churn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Véhicules « gouffres »</a:t>
                      </a:r>
                      <a:r>
                        <a:rPr/>
                        <a:t> — 5 % du parc = 30 % du budget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Partenaires qui perdent de l'argent → ils quittent l'activité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que Pièces apporte au réseau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Disponibilité 24 h garantie</a:t>
            </a:r>
            <a:r>
              <a:rPr/>
              <a:t> sur les références critiques (filtres, plaquettes, courroies, pneus, huile) via stock tampon dédié — la rupture qui cloue le véhicule disparaît.</a:t>
            </a:r>
          </a:p>
          <a:p>
            <a:pPr lvl="0"/>
            <a:r>
              <a:rPr b="1"/>
              <a:t>Livraison 3 h chrono à Abidjan</a:t>
            </a:r>
            <a:r>
              <a:rPr/>
              <a:t> sur pièce en stock : le véhicule repart le jour même, pas le surlendemain.</a:t>
            </a:r>
          </a:p>
          <a:p>
            <a:pPr lvl="0"/>
            <a:r>
              <a:rPr b="1"/>
              <a:t>−20 à −30 % sur le poste pièces</a:t>
            </a:r>
            <a:r>
              <a:rPr/>
              <a:t>, prix transparents : des partenaires plus rentables sont des partenaires fidèles.</a:t>
            </a:r>
          </a:p>
          <a:p>
            <a:pPr lvl="0"/>
            <a:r>
              <a:rPr b="1"/>
              <a:t>Pièces qui durent</a:t>
            </a:r>
            <a:r>
              <a:rPr/>
              <a:t> : lutte anti-contrefaçon et garantie intermédiée → moins de re-pannes et de réimmobilisations. Détection des véhicules « gouffres ».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que nous ne sommes 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Pour lever toute ambiguïté : </a:t>
            </a:r>
            <a:r>
              <a:rPr b="1"/>
              <a:t>Pièces n'est ni un concurrent de Yango, ni un outil de pilotage ou de recrutement de chauffeurs.</a:t>
            </a:r>
            <a:r>
              <a:rPr/>
              <a:t> Nous ne touchons ni à la mise en relation, ni à la commission, ni aux données de courses. Nous opérons uniquement </a:t>
            </a:r>
            <a:r>
              <a:rPr b="1"/>
              <a:t>l'approvisionnement en pièces et l'entretien</a:t>
            </a:r>
            <a:r>
              <a:rPr/>
              <a:t> — une couche qu'aucun acteur de votre écosystème ne couvre aujourd'hui.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Trois formes de collaboration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 que fait Yango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Bénéfice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Référencement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Recommander Pièces comme solution pièces &amp; entretien à votre réseau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Effort minimal · gain de disponibilité immédiat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Co-marketing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Offre conjointe « Partenaire Yango » : onboarding et tarif dédiés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 de rétention différenciant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Intégration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Lien depuis l'espace partenaire vers la commande Pièces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Parcours fluide · données consolidées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pilote que nous proposons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60 jours</a:t>
            </a:r>
            <a:r>
              <a:rPr/>
              <a:t>, sur </a:t>
            </a:r>
            <a:r>
              <a:rPr b="1"/>
              <a:t>2 à 3 partenaires</a:t>
            </a:r>
            <a:r>
              <a:rPr/>
              <a:t> de votre réseau (flottes de 10 à 50 véhicules).</a:t>
            </a:r>
          </a:p>
          <a:p>
            <a:pPr lvl="0"/>
            <a:r>
              <a:rPr/>
              <a:t>Indicateur clé : </a:t>
            </a:r>
            <a:r>
              <a:rPr b="1"/>
              <a:t>jours-véhicule d'immobilisation évités</a:t>
            </a:r>
            <a:r>
              <a:rPr/>
              <a:t>, traduits en courses additionnelles.</a:t>
            </a:r>
          </a:p>
          <a:p>
            <a:pPr lvl="0"/>
            <a:r>
              <a:rPr/>
              <a:t>Restitution chiffrée conjointe — et décision d'élargir si la mécanique fonctionne.</a:t>
            </a:r>
          </a:p>
          <a:p>
            <a:pPr lvl="0" indent="0" marL="1270000">
              <a:buNone/>
            </a:pPr>
            <a:r>
              <a:rPr sz="2000"/>
              <a:t>Un échange de 30 minutes pour vous montrer le calcul sur </a:t>
            </a:r>
            <a:r>
              <a:rPr sz="2000" b="1"/>
              <a:t>une flotte type de votre réseau</a:t>
            </a:r>
            <a:r>
              <a:rPr sz="2000"/>
              <a:t>. Nous venons avec les chiffres ; vous repartez avec une estimation des courses récupérables.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Pièces.ci — Marketplace pièces auto &amp; solutions flotte · Abidjan, Côte d'Ivoire · </a:t>
            </a:r>
            <a:r>
              <a:rPr>
                <a:hlinkClick r:id="rId2"/>
              </a:rPr>
              <a:t>fernando.kouame@gmail.com</a:t>
            </a:r>
          </a:p>
          <a:p>
            <a:pPr lvl="0" indent="0" marL="0">
              <a:buNone/>
            </a:pPr>
            <a:r>
              <a:rPr i="1"/>
              <a:t>Données d'usage VTC issues de l'étude sectorielle Pièces « Coûts d'exploitation VTC en Côte d'Ivoire » (mai 2026), construites à partir de prix de marché publics et d'hypothèses d'usage explicitées. Chiffres indicatifs à valider sur données de flotte réelles.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Pieces">
      <a:dk1>
        <a:sysClr val="windowText" lastClr="000000"/>
      </a:dk1>
      <a:lt1>
        <a:sysClr val="window" lastClr="FFFFFF"/>
      </a:lt1>
      <a:dk2>
        <a:srgbClr val="00113A"/>
      </a:dk2>
      <a:lt2>
        <a:srgbClr val="F5F5F4"/>
      </a:lt2>
      <a:accent1>
        <a:srgbClr val="FF6B00"/>
      </a:accent1>
      <a:accent2>
        <a:srgbClr val="00113A"/>
      </a:accent2>
      <a:accent3>
        <a:srgbClr val="888888"/>
      </a:accent3>
      <a:accent4>
        <a:srgbClr val="1A1A1A"/>
      </a:accent4>
      <a:accent5>
        <a:srgbClr val="FF8A33"/>
      </a:accent5>
      <a:accent6>
        <a:srgbClr val="00204F"/>
      </a:accent6>
      <a:hlink>
        <a:srgbClr val="FF6B00"/>
      </a:hlink>
      <a:folHlink>
        <a:srgbClr val="00113A"/>
      </a:folHlink>
    </a:clrScheme>
    <a:fontScheme name="Office">
      <a:majorFont>
        <a:latin typeface="Glooc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2026-06-08T14:30:59Z</dcterms:created>
  <dcterms:modified xsi:type="dcterms:W3CDTF">2026-06-08T14:30:59Z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