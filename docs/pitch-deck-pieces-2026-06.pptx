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Pièces optimise les dépenses automobiles de tout le monde en Côte d'Ivoire — du propriétaire d'un véhicule au gestionnaire d'une flotte. Marketplace + flotte + réseau terrain, sur un marché de ~250 Mds FCFA/an, fragmenté et largement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Pre-seed ~1 M EUR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largement informel</a:t>
            </a:r>
            <a:r>
              <a:rPr/>
              <a:t> : pas de catalogue, pas de prix affiché, pas de garantie, pas de facture.</a:t>
            </a:r>
          </a:p>
          <a:p>
            <a:pPr lvl="0" indent="0" marL="0">
              <a:buNone/>
            </a:pPr>
            <a:r>
              <a:rPr b="1"/>
              <a:t>Chaque intermédiaire ajoute sa marge</a:t>
            </a:r>
            <a:r>
              <a:rPr/>
              <a:t> — importateur, grossiste, détaillant, mécanicien : l'acheteur paie l'accumulation, sans jamais voir le vrai prix.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25 000 à 50 000 F/jour</a:t>
            </a:r>
            <a:r>
              <a:rPr/>
              <a:t> par véhicule immobilisé ; budget pièces opaque.</a:t>
            </a:r>
          </a:p>
          <a:p>
            <a:pPr lvl="0"/>
            <a:r>
              <a:rPr b="1"/>
              <a:t>Vendeur</a:t>
            </a:r>
            <a:r>
              <a:rPr/>
              <a:t> : enfermé dans son comptoir,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vendeur livre, le propriétaire </a:t>
            </a:r>
            <a:r>
              <a:rPr b="1"/>
              <a:t>paie à la livraison</a:t>
            </a:r>
            <a:r>
              <a:rPr/>
              <a:t>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</a:t>
            </a:r>
            <a:r>
              <a:rPr b="1"/>
              <a:t>formels et informels</a:t>
            </a:r>
            <a:r>
              <a:rPr/>
              <a:t>, de l'importateur en gros au détaillant — même hors ligne.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paiement à la livraison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~10 %, le SOM représente </a:t>
            </a:r>
            <a:r>
              <a:rPr b="1"/>
              <a:t>4–6 Mds FCFA de revenu net annuel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paiement à la livraison fiable et traçable.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panier moyen </a:t>
            </a:r>
            <a:r>
              <a:rPr b="1"/>
              <a:t>32 000 F</a:t>
            </a:r>
            <a:r>
              <a:rPr/>
              <a:t>, take rate </a:t>
            </a:r>
            <a:r>
              <a:rPr b="1"/>
              <a:t>10 %</a:t>
            </a:r>
            <a:r>
              <a:rPr/>
              <a:t> → </a:t>
            </a:r>
            <a:r>
              <a:rPr b="1"/>
              <a:t>3 200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7–15 %, au paiement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magasins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rPr/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Paiement à la livraison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Pre-seed </a:t>
            </a:r>
            <a:r>
              <a:rPr sz="2000" b="1"/>
              <a:t>~1 M EUR (≈ 655 M FCFA)</a:t>
            </a:r>
            <a:r>
              <a:rPr sz="2000"/>
              <a:t> — 18 à 20 mois de runway. Fourchette 0,7–1,3 M EUR selon l'ambition de calendrier. Justifié par l'intensité capitalistique du modèle (ops terrain + stock tampon).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Seed 4–6 M EUR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Pieces">
      <a:dk1>
        <a:sysClr val="windowText" lastClr="000000"/>
      </a:dk1>
      <a:lt1>
        <a:sysClr val="window" lastClr="FFFFFF"/>
      </a:lt1>
      <a:dk2>
        <a:srgbClr val="00113A"/>
      </a:dk2>
      <a:lt2>
        <a:srgbClr val="F5F5F4"/>
      </a:lt2>
      <a:accent1>
        <a:srgbClr val="FF6B00"/>
      </a:accent1>
      <a:accent2>
        <a:srgbClr val="00113A"/>
      </a:accent2>
      <a:accent3>
        <a:srgbClr val="888888"/>
      </a:accent3>
      <a:accent4>
        <a:srgbClr val="1A1A1A"/>
      </a:accent4>
      <a:accent5>
        <a:srgbClr val="FF8A33"/>
      </a:accent5>
      <a:accent6>
        <a:srgbClr val="00204F"/>
      </a:accent6>
      <a:hlink>
        <a:srgbClr val="FF6B00"/>
      </a:hlink>
      <a:folHlink>
        <a:srgbClr val="00113A"/>
      </a:folHlink>
    </a:clrScheme>
    <a:fontScheme name="Office">
      <a:majorFont>
        <a:latin typeface="Glooc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strumen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2026-06-07T17:43:24Z</dcterms:created>
  <dcterms:modified xsi:type="dcterms:W3CDTF">2026-06-07T17:43:24Z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