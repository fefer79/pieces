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70" r:id="rId5"/>
    <p:sldId id="27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05" autoAdjust="0"/>
    <p:restoredTop sz="94674" autoAdjust="0"/>
  </p:normalViewPr>
  <p:slideViewPr>
    <p:cSldViewPr snapToGrid="0" snapToObjects="1">
      <p:cViewPr varScale="1">
        <p:scale>
          <a:sx n="117" d="100"/>
          <a:sy n="117" d="100"/>
        </p:scale>
        <p:origin x="168" y="8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mailto:fernando.kouame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FD901DC3-752B-B2F9-D766-1EF0DB2A7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26" y="1042010"/>
            <a:ext cx="3015808" cy="1206432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795E82C-33AA-8BBE-80B8-52529D60DB63}"/>
              </a:ext>
            </a:extLst>
          </p:cNvPr>
          <p:cNvSpPr txBox="1"/>
          <p:nvPr/>
        </p:nvSpPr>
        <p:spPr>
          <a:xfrm>
            <a:off x="448939" y="2222396"/>
            <a:ext cx="7569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I" dirty="0"/>
              <a:t>Pièces optimise les dépenses automobiles de tout le monde en Côte d'Ivoire : du propriétaire d'un véhicule au gestionnaire d'une flotte, sur un marché annuel de 250 milliards de FCFA, fragmenté et largement informel. </a:t>
            </a:r>
            <a:endParaRPr lang="fr-FR" dirty="0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B9C8BA9-9F88-3779-1F43-2A18C526DBBA}"/>
              </a:ext>
            </a:extLst>
          </p:cNvPr>
          <p:cNvCxnSpPr/>
          <p:nvPr/>
        </p:nvCxnSpPr>
        <p:spPr>
          <a:xfrm>
            <a:off x="457200" y="3335964"/>
            <a:ext cx="799167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EDD3952-BE55-9ED7-6453-7A1DE8E5E288}"/>
              </a:ext>
            </a:extLst>
          </p:cNvPr>
          <p:cNvSpPr/>
          <p:nvPr/>
        </p:nvSpPr>
        <p:spPr>
          <a:xfrm>
            <a:off x="457200" y="3562597"/>
            <a:ext cx="8116784" cy="973777"/>
          </a:xfrm>
          <a:prstGeom prst="roundRect">
            <a:avLst>
              <a:gd name="adj" fmla="val 6348"/>
            </a:avLst>
          </a:prstGeom>
          <a:solidFill>
            <a:schemeClr val="tx2"/>
          </a:solidFill>
          <a:ln w="0">
            <a:solidFill>
              <a:schemeClr val="tx2"/>
            </a:solidFill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1021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latin typeface="+mj-lt"/>
              </a:rPr>
              <a:t>     La pièce qu’il te faut, </a:t>
            </a:r>
            <a:r>
              <a:rPr lang="fr-FR" dirty="0">
                <a:solidFill>
                  <a:schemeClr val="accent1"/>
                </a:solidFill>
                <a:latin typeface="+mj-lt"/>
              </a:rPr>
              <a:t>au juste prix</a:t>
            </a:r>
            <a:r>
              <a:rPr lang="fr-FR" dirty="0">
                <a:latin typeface="+mj-lt"/>
              </a:rPr>
              <a:t> , livrée et garantie. </a:t>
            </a:r>
            <a:endParaRPr lang="fr-FR" dirty="0">
              <a:solidFill>
                <a:schemeClr val="accent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rPr dirty="0"/>
              <a:t>Le </a:t>
            </a:r>
            <a:r>
              <a:rPr dirty="0" err="1"/>
              <a:t>problème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1800" dirty="0" err="1"/>
              <a:t>Acheter</a:t>
            </a:r>
            <a:r>
              <a:rPr sz="1800" dirty="0"/>
              <a:t> </a:t>
            </a:r>
            <a:r>
              <a:rPr sz="1800" dirty="0" err="1"/>
              <a:t>une</a:t>
            </a:r>
            <a:r>
              <a:rPr sz="1800" dirty="0"/>
              <a:t> pièce auto </a:t>
            </a:r>
            <a:r>
              <a:rPr sz="1800" dirty="0" err="1"/>
              <a:t>à</a:t>
            </a:r>
            <a:r>
              <a:rPr sz="1800" dirty="0"/>
              <a:t> Abidjan </a:t>
            </a:r>
            <a:r>
              <a:rPr lang="fr-FR" sz="1800" dirty="0"/>
              <a:t>est </a:t>
            </a:r>
            <a:r>
              <a:rPr sz="1800" dirty="0"/>
              <a:t>un </a:t>
            </a:r>
            <a:r>
              <a:rPr sz="1800" dirty="0" err="1"/>
              <a:t>parcours</a:t>
            </a:r>
            <a:r>
              <a:rPr sz="1800" dirty="0"/>
              <a:t> du </a:t>
            </a:r>
            <a:r>
              <a:rPr sz="1800" dirty="0" err="1"/>
              <a:t>combattant</a:t>
            </a:r>
            <a:r>
              <a:rPr sz="1800" dirty="0"/>
              <a:t>. </a:t>
            </a:r>
            <a:endParaRPr lang="fr-FR" sz="1800" dirty="0"/>
          </a:p>
          <a:p>
            <a:pPr marL="0" lvl="0" indent="0">
              <a:buNone/>
            </a:pPr>
            <a:r>
              <a:rPr sz="1800" dirty="0"/>
              <a:t>Le </a:t>
            </a:r>
            <a:r>
              <a:rPr sz="1800" dirty="0" err="1"/>
              <a:t>marché</a:t>
            </a:r>
            <a:r>
              <a:rPr sz="1800" dirty="0"/>
              <a:t> </a:t>
            </a:r>
            <a:r>
              <a:rPr sz="1800" dirty="0" err="1"/>
              <a:t>est</a:t>
            </a:r>
            <a:r>
              <a:rPr sz="1800" dirty="0"/>
              <a:t> </a:t>
            </a:r>
            <a:r>
              <a:rPr sz="1800" b="1" dirty="0" err="1">
                <a:solidFill>
                  <a:schemeClr val="tx2"/>
                </a:solidFill>
              </a:rPr>
              <a:t>largement</a:t>
            </a:r>
            <a:r>
              <a:rPr sz="1800" b="1" dirty="0">
                <a:solidFill>
                  <a:schemeClr val="tx2"/>
                </a:solidFill>
              </a:rPr>
              <a:t> </a:t>
            </a:r>
            <a:r>
              <a:rPr sz="1800" b="1" dirty="0" err="1">
                <a:solidFill>
                  <a:schemeClr val="tx2"/>
                </a:solidFill>
              </a:rPr>
              <a:t>informel</a:t>
            </a:r>
            <a:r>
              <a:rPr sz="1800" dirty="0"/>
              <a:t> : pas de catalogue, pas de prix </a:t>
            </a:r>
            <a:r>
              <a:rPr sz="1800" dirty="0" err="1"/>
              <a:t>affiché</a:t>
            </a:r>
            <a:r>
              <a:rPr sz="1800" dirty="0"/>
              <a:t>, de</a:t>
            </a:r>
            <a:r>
              <a:rPr lang="fr-FR" sz="1800" dirty="0"/>
              <a:t>s</a:t>
            </a:r>
            <a:r>
              <a:rPr sz="1800" dirty="0"/>
              <a:t> </a:t>
            </a:r>
            <a:r>
              <a:rPr sz="1800" dirty="0" err="1"/>
              <a:t>garantie</a:t>
            </a:r>
            <a:r>
              <a:rPr lang="fr-FR" sz="1800" dirty="0"/>
              <a:t>s diverses</a:t>
            </a:r>
            <a:r>
              <a:rPr sz="1800" dirty="0"/>
              <a:t>, </a:t>
            </a:r>
            <a:r>
              <a:rPr lang="fr-FR" sz="1800" dirty="0"/>
              <a:t>souvent sans </a:t>
            </a:r>
            <a:r>
              <a:rPr sz="1800" dirty="0"/>
              <a:t>facture</a:t>
            </a:r>
            <a:r>
              <a:rPr lang="fr-FR" sz="1800" dirty="0"/>
              <a:t> normalisée</a:t>
            </a:r>
            <a:r>
              <a:rPr sz="1800" dirty="0"/>
              <a:t>.</a:t>
            </a:r>
          </a:p>
          <a:p>
            <a:pPr marL="0" lvl="0" indent="0">
              <a:buNone/>
            </a:pPr>
            <a:r>
              <a:rPr sz="1800" b="1" dirty="0" err="1">
                <a:solidFill>
                  <a:schemeClr val="tx2"/>
                </a:solidFill>
              </a:rPr>
              <a:t>Chaque</a:t>
            </a:r>
            <a:r>
              <a:rPr sz="1800" b="1" dirty="0">
                <a:solidFill>
                  <a:schemeClr val="tx2"/>
                </a:solidFill>
              </a:rPr>
              <a:t> </a:t>
            </a:r>
            <a:r>
              <a:rPr sz="1800" b="1" dirty="0" err="1">
                <a:solidFill>
                  <a:schemeClr val="tx2"/>
                </a:solidFill>
              </a:rPr>
              <a:t>intermédiaire</a:t>
            </a:r>
            <a:r>
              <a:rPr sz="1800" b="1" dirty="0">
                <a:solidFill>
                  <a:schemeClr val="tx2"/>
                </a:solidFill>
              </a:rPr>
              <a:t> </a:t>
            </a:r>
            <a:r>
              <a:rPr sz="1800" b="1" dirty="0" err="1">
                <a:solidFill>
                  <a:schemeClr val="tx2"/>
                </a:solidFill>
              </a:rPr>
              <a:t>ajoute</a:t>
            </a:r>
            <a:r>
              <a:rPr sz="1800" b="1" dirty="0">
                <a:solidFill>
                  <a:schemeClr val="tx2"/>
                </a:solidFill>
              </a:rPr>
              <a:t> </a:t>
            </a:r>
            <a:r>
              <a:rPr sz="1800" b="1" dirty="0" err="1">
                <a:solidFill>
                  <a:schemeClr val="tx2"/>
                </a:solidFill>
              </a:rPr>
              <a:t>sa</a:t>
            </a:r>
            <a:r>
              <a:rPr sz="1800" b="1" dirty="0">
                <a:solidFill>
                  <a:schemeClr val="tx2"/>
                </a:solidFill>
              </a:rPr>
              <a:t> marge</a:t>
            </a:r>
            <a:r>
              <a:rPr sz="1800" dirty="0">
                <a:solidFill>
                  <a:schemeClr val="tx2"/>
                </a:solidFill>
              </a:rPr>
              <a:t> </a:t>
            </a:r>
            <a:r>
              <a:rPr lang="fr-FR" sz="1800" dirty="0">
                <a:solidFill>
                  <a:schemeClr val="tx2"/>
                </a:solidFill>
              </a:rPr>
              <a:t>:</a:t>
            </a:r>
            <a:r>
              <a:rPr sz="1800" dirty="0"/>
              <a:t> </a:t>
            </a:r>
            <a:r>
              <a:rPr sz="1800" dirty="0" err="1"/>
              <a:t>importateur</a:t>
            </a:r>
            <a:r>
              <a:rPr sz="1800" dirty="0"/>
              <a:t>, </a:t>
            </a:r>
            <a:r>
              <a:rPr sz="1800" dirty="0" err="1"/>
              <a:t>grossiste</a:t>
            </a:r>
            <a:r>
              <a:rPr sz="1800" dirty="0"/>
              <a:t>, </a:t>
            </a:r>
            <a:r>
              <a:rPr sz="1800" dirty="0" err="1"/>
              <a:t>détaillant</a:t>
            </a:r>
            <a:r>
              <a:rPr sz="1800" dirty="0"/>
              <a:t>, </a:t>
            </a:r>
            <a:r>
              <a:rPr sz="1800" dirty="0" err="1"/>
              <a:t>mécanicien</a:t>
            </a:r>
            <a:r>
              <a:rPr lang="fr-FR" sz="1800" dirty="0"/>
              <a:t>.</a:t>
            </a:r>
            <a:r>
              <a:rPr sz="1800" dirty="0"/>
              <a:t> </a:t>
            </a:r>
            <a:r>
              <a:rPr lang="fr-FR" sz="1800" dirty="0"/>
              <a:t>L</a:t>
            </a:r>
            <a:r>
              <a:rPr sz="1800" dirty="0"/>
              <a:t>'</a:t>
            </a:r>
            <a:r>
              <a:rPr sz="1800" dirty="0" err="1"/>
              <a:t>acheteur</a:t>
            </a:r>
            <a:r>
              <a:rPr sz="1800" dirty="0"/>
              <a:t> </a:t>
            </a:r>
            <a:r>
              <a:rPr sz="1800" dirty="0" err="1"/>
              <a:t>paie</a:t>
            </a:r>
            <a:r>
              <a:rPr sz="1800" dirty="0"/>
              <a:t> </a:t>
            </a:r>
            <a:r>
              <a:rPr sz="1800" dirty="0" err="1"/>
              <a:t>l'accumulation</a:t>
            </a:r>
            <a:r>
              <a:rPr sz="1800" dirty="0"/>
              <a:t>, sans jamais </a:t>
            </a:r>
            <a:r>
              <a:rPr sz="1800" dirty="0" err="1"/>
              <a:t>voir</a:t>
            </a:r>
            <a:r>
              <a:rPr sz="1800" dirty="0"/>
              <a:t> le </a:t>
            </a:r>
            <a:r>
              <a:rPr sz="1800" dirty="0" err="1"/>
              <a:t>vrai</a:t>
            </a:r>
            <a:r>
              <a:rPr sz="1800" dirty="0"/>
              <a:t> prix.</a:t>
            </a:r>
          </a:p>
          <a:p>
            <a:pPr lvl="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1800" b="1" dirty="0">
                <a:solidFill>
                  <a:schemeClr val="tx2"/>
                </a:solidFill>
              </a:rPr>
              <a:t>Propriétaire</a:t>
            </a:r>
            <a:r>
              <a:rPr sz="1800" dirty="0"/>
              <a:t> : </a:t>
            </a:r>
            <a:r>
              <a:rPr sz="1800" dirty="0" err="1"/>
              <a:t>paie</a:t>
            </a:r>
            <a:r>
              <a:rPr sz="1800" dirty="0"/>
              <a:t> </a:t>
            </a:r>
            <a:r>
              <a:rPr lang="fr-FR" sz="1800" dirty="0"/>
              <a:t>souvent </a:t>
            </a:r>
            <a:r>
              <a:rPr sz="1800" dirty="0"/>
              <a:t>30 </a:t>
            </a:r>
            <a:r>
              <a:rPr sz="1800" dirty="0" err="1"/>
              <a:t>à</a:t>
            </a:r>
            <a:r>
              <a:rPr sz="1800" dirty="0"/>
              <a:t> 60 % trop </a:t>
            </a:r>
            <a:r>
              <a:rPr sz="1800" dirty="0" err="1"/>
              <a:t>cher</a:t>
            </a:r>
            <a:r>
              <a:rPr sz="1800" dirty="0"/>
              <a:t>.</a:t>
            </a:r>
          </a:p>
          <a:p>
            <a:pPr lvl="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1800" b="1" dirty="0" err="1">
                <a:solidFill>
                  <a:schemeClr val="tx2"/>
                </a:solidFill>
              </a:rPr>
              <a:t>Flotte</a:t>
            </a:r>
            <a:r>
              <a:rPr sz="1800" dirty="0"/>
              <a:t> : </a:t>
            </a:r>
            <a:r>
              <a:rPr sz="1800" dirty="0" err="1"/>
              <a:t>perd</a:t>
            </a:r>
            <a:r>
              <a:rPr sz="1800" dirty="0"/>
              <a:t> </a:t>
            </a:r>
            <a:r>
              <a:rPr sz="1800" b="1" dirty="0">
                <a:solidFill>
                  <a:schemeClr val="tx2"/>
                </a:solidFill>
              </a:rPr>
              <a:t>25 000 </a:t>
            </a:r>
            <a:r>
              <a:rPr sz="1800" b="1" dirty="0" err="1">
                <a:solidFill>
                  <a:schemeClr val="tx2"/>
                </a:solidFill>
              </a:rPr>
              <a:t>à</a:t>
            </a:r>
            <a:r>
              <a:rPr sz="1800" b="1" dirty="0">
                <a:solidFill>
                  <a:schemeClr val="tx2"/>
                </a:solidFill>
              </a:rPr>
              <a:t> 50 000 F/jour</a:t>
            </a:r>
            <a:r>
              <a:rPr sz="1800" dirty="0">
                <a:solidFill>
                  <a:schemeClr val="tx2"/>
                </a:solidFill>
              </a:rPr>
              <a:t> </a:t>
            </a:r>
            <a:r>
              <a:rPr sz="1800" dirty="0"/>
              <a:t>par </a:t>
            </a:r>
            <a:r>
              <a:rPr sz="1800" dirty="0" err="1"/>
              <a:t>véhicule</a:t>
            </a:r>
            <a:r>
              <a:rPr sz="1800" dirty="0"/>
              <a:t> </a:t>
            </a:r>
            <a:r>
              <a:rPr sz="1800" dirty="0" err="1"/>
              <a:t>immobilisé</a:t>
            </a:r>
            <a:r>
              <a:rPr lang="fr-FR" sz="1800" dirty="0"/>
              <a:t>, avec un </a:t>
            </a:r>
            <a:r>
              <a:rPr sz="1800" dirty="0"/>
              <a:t>budget </a:t>
            </a:r>
            <a:r>
              <a:rPr sz="1800" dirty="0" err="1"/>
              <a:t>pièces</a:t>
            </a:r>
            <a:r>
              <a:rPr sz="1800" dirty="0"/>
              <a:t> opaque.</a:t>
            </a:r>
          </a:p>
          <a:p>
            <a:pPr lvl="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1800" b="1" dirty="0" err="1">
                <a:solidFill>
                  <a:schemeClr val="tx2"/>
                </a:solidFill>
              </a:rPr>
              <a:t>Vendeur</a:t>
            </a:r>
            <a:r>
              <a:rPr sz="1800" dirty="0"/>
              <a:t> : </a:t>
            </a:r>
            <a:r>
              <a:rPr sz="1800" dirty="0" err="1"/>
              <a:t>enfermé</a:t>
            </a:r>
            <a:r>
              <a:rPr sz="1800" dirty="0"/>
              <a:t> dans son </a:t>
            </a:r>
            <a:r>
              <a:rPr sz="1800" dirty="0" err="1"/>
              <a:t>comptoir</a:t>
            </a:r>
            <a:r>
              <a:rPr sz="1800" dirty="0"/>
              <a:t>, invisible </a:t>
            </a:r>
            <a:r>
              <a:rPr lang="fr-FR" sz="1800" dirty="0"/>
              <a:t>ou peu </a:t>
            </a:r>
            <a:r>
              <a:rPr sz="1800" dirty="0" err="1"/>
              <a:t>en</a:t>
            </a:r>
            <a:r>
              <a:rPr sz="1800" dirty="0"/>
              <a:t> </a:t>
            </a:r>
            <a:r>
              <a:rPr sz="1800" dirty="0" err="1"/>
              <a:t>ligne</a:t>
            </a:r>
            <a:r>
              <a:rPr sz="1800" dirty="0"/>
              <a:t>.</a:t>
            </a:r>
          </a:p>
          <a:p>
            <a:pPr lvl="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sz="1800" b="1" dirty="0">
                <a:solidFill>
                  <a:schemeClr val="tx2"/>
                </a:solidFill>
              </a:rPr>
              <a:t>État</a:t>
            </a:r>
            <a:r>
              <a:rPr sz="1800" dirty="0"/>
              <a:t> : </a:t>
            </a:r>
            <a:r>
              <a:rPr sz="1800" dirty="0" err="1"/>
              <a:t>ni</a:t>
            </a:r>
            <a:r>
              <a:rPr sz="1800" dirty="0"/>
              <a:t> TVA, </a:t>
            </a:r>
            <a:r>
              <a:rPr sz="1800" dirty="0" err="1"/>
              <a:t>ni</a:t>
            </a:r>
            <a:r>
              <a:rPr sz="1800" dirty="0"/>
              <a:t> </a:t>
            </a:r>
            <a:r>
              <a:rPr sz="1800" dirty="0" err="1"/>
              <a:t>traçabilité</a:t>
            </a:r>
            <a:r>
              <a:rPr sz="18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2080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800" dirty="0"/>
              <a:t>Trois </a:t>
            </a:r>
            <a:r>
              <a:rPr sz="1800" dirty="0" err="1"/>
              <a:t>produits</a:t>
            </a:r>
            <a:r>
              <a:rPr sz="1800" dirty="0"/>
              <a:t>, </a:t>
            </a:r>
            <a:r>
              <a:rPr sz="1800" dirty="0" err="1"/>
              <a:t>une</a:t>
            </a:r>
            <a:r>
              <a:rPr sz="1800" dirty="0"/>
              <a:t> </a:t>
            </a:r>
            <a:r>
              <a:rPr sz="1800" dirty="0" err="1"/>
              <a:t>seule</a:t>
            </a:r>
            <a:r>
              <a:rPr sz="1800" dirty="0"/>
              <a:t> infrastructure :</a:t>
            </a:r>
          </a:p>
          <a:p>
            <a:pPr>
              <a:buClr>
                <a:schemeClr val="accent1"/>
              </a:buClr>
            </a:pPr>
            <a:r>
              <a:rPr sz="1800" dirty="0">
                <a:solidFill>
                  <a:schemeClr val="tx2"/>
                </a:solidFill>
              </a:rPr>
              <a:t>Marketplace tripartite </a:t>
            </a:r>
            <a:r>
              <a:rPr lang="fr-FR" sz="1800" dirty="0">
                <a:solidFill>
                  <a:schemeClr val="tx2"/>
                </a:solidFill>
              </a:rPr>
              <a:t>:</a:t>
            </a:r>
            <a:r>
              <a:rPr sz="1800" dirty="0"/>
              <a:t> le </a:t>
            </a:r>
            <a:r>
              <a:rPr sz="1800" dirty="0" err="1"/>
              <a:t>mécanicien</a:t>
            </a:r>
            <a:r>
              <a:rPr sz="1800" dirty="0"/>
              <a:t> </a:t>
            </a:r>
            <a:r>
              <a:rPr sz="1800" dirty="0" err="1"/>
              <a:t>identifie</a:t>
            </a:r>
            <a:r>
              <a:rPr sz="1800" dirty="0"/>
              <a:t>, le </a:t>
            </a:r>
            <a:r>
              <a:rPr sz="1800" dirty="0" err="1"/>
              <a:t>vendeur</a:t>
            </a:r>
            <a:r>
              <a:rPr sz="1800" dirty="0"/>
              <a:t> livre, le propriétaire </a:t>
            </a:r>
            <a:r>
              <a:rPr sz="1800" dirty="0" err="1"/>
              <a:t>paie</a:t>
            </a:r>
            <a:r>
              <a:rPr sz="1800" dirty="0"/>
              <a:t> </a:t>
            </a:r>
            <a:r>
              <a:rPr sz="1800" dirty="0" err="1"/>
              <a:t>à</a:t>
            </a:r>
            <a:r>
              <a:rPr sz="1800" dirty="0"/>
              <a:t> la livraison. Prix et condition </a:t>
            </a:r>
            <a:r>
              <a:rPr sz="1800" dirty="0" err="1"/>
              <a:t>affichés</a:t>
            </a:r>
            <a:r>
              <a:rPr sz="1800" dirty="0"/>
              <a:t>, </a:t>
            </a:r>
            <a:r>
              <a:rPr sz="1800" dirty="0" err="1"/>
              <a:t>garantie</a:t>
            </a:r>
            <a:r>
              <a:rPr sz="1800" dirty="0"/>
              <a:t>, facture.</a:t>
            </a:r>
          </a:p>
          <a:p>
            <a:pPr>
              <a:buClr>
                <a:schemeClr val="accent1"/>
              </a:buClr>
            </a:pPr>
            <a:r>
              <a:rPr sz="1800" dirty="0">
                <a:solidFill>
                  <a:schemeClr val="tx2"/>
                </a:solidFill>
              </a:rPr>
              <a:t>Suite </a:t>
            </a:r>
            <a:r>
              <a:rPr sz="1800" dirty="0" err="1">
                <a:solidFill>
                  <a:schemeClr val="tx2"/>
                </a:solidFill>
              </a:rPr>
              <a:t>Flotte</a:t>
            </a:r>
            <a:r>
              <a:rPr sz="1800" dirty="0">
                <a:solidFill>
                  <a:schemeClr val="tx2"/>
                </a:solidFill>
              </a:rPr>
              <a:t> (B2B)</a:t>
            </a:r>
            <a:r>
              <a:rPr sz="1800" dirty="0"/>
              <a:t> </a:t>
            </a:r>
            <a:r>
              <a:rPr lang="fr-FR" sz="1800" dirty="0"/>
              <a:t>:</a:t>
            </a:r>
            <a:r>
              <a:rPr sz="1800" dirty="0"/>
              <a:t> pilotage du </a:t>
            </a:r>
            <a:r>
              <a:rPr sz="1800" dirty="0" err="1"/>
              <a:t>coût</a:t>
            </a:r>
            <a:r>
              <a:rPr sz="1800" dirty="0"/>
              <a:t> total de possession, </a:t>
            </a:r>
            <a:r>
              <a:rPr sz="1800" dirty="0" err="1"/>
              <a:t>détection</a:t>
            </a:r>
            <a:r>
              <a:rPr sz="1800" dirty="0"/>
              <a:t> des </a:t>
            </a:r>
            <a:r>
              <a:rPr sz="1800" dirty="0" err="1"/>
              <a:t>véhicules</a:t>
            </a:r>
            <a:r>
              <a:rPr sz="1800" dirty="0"/>
              <a:t> « </a:t>
            </a:r>
            <a:r>
              <a:rPr sz="1800" dirty="0" err="1"/>
              <a:t>gouffres</a:t>
            </a:r>
            <a:r>
              <a:rPr sz="1800" dirty="0"/>
              <a:t> », livraison express, </a:t>
            </a:r>
            <a:r>
              <a:rPr sz="1800" dirty="0" err="1"/>
              <a:t>conformité</a:t>
            </a:r>
            <a:r>
              <a:rPr sz="1800" dirty="0"/>
              <a:t> </a:t>
            </a:r>
            <a:r>
              <a:rPr sz="1800" dirty="0" err="1"/>
              <a:t>fiscale</a:t>
            </a:r>
            <a:r>
              <a:rPr sz="1800" dirty="0"/>
              <a:t>.</a:t>
            </a:r>
          </a:p>
          <a:p>
            <a:pPr>
              <a:buClr>
                <a:schemeClr val="accent1"/>
              </a:buClr>
            </a:pPr>
            <a:r>
              <a:rPr sz="1800" dirty="0" err="1">
                <a:solidFill>
                  <a:schemeClr val="tx2"/>
                </a:solidFill>
              </a:rPr>
              <a:t>Réseau</a:t>
            </a:r>
            <a:r>
              <a:rPr sz="1800" dirty="0">
                <a:solidFill>
                  <a:schemeClr val="tx2"/>
                </a:solidFill>
              </a:rPr>
              <a:t> Liaison </a:t>
            </a:r>
            <a:r>
              <a:rPr lang="fr-FR" sz="1800" dirty="0">
                <a:solidFill>
                  <a:schemeClr val="tx2"/>
                </a:solidFill>
              </a:rPr>
              <a:t>:</a:t>
            </a:r>
            <a:r>
              <a:rPr sz="1800" dirty="0"/>
              <a:t> des agents terrain </a:t>
            </a:r>
            <a:r>
              <a:rPr sz="1800" dirty="0" err="1"/>
              <a:t>digitalisent</a:t>
            </a:r>
            <a:r>
              <a:rPr sz="1800" dirty="0"/>
              <a:t> les </a:t>
            </a:r>
            <a:r>
              <a:rPr sz="1800" dirty="0" err="1"/>
              <a:t>vendeurs</a:t>
            </a:r>
            <a:r>
              <a:rPr sz="1800" dirty="0"/>
              <a:t> </a:t>
            </a:r>
            <a:r>
              <a:rPr sz="1800" dirty="0" err="1"/>
              <a:t>formels</a:t>
            </a:r>
            <a:r>
              <a:rPr sz="1800" dirty="0"/>
              <a:t> et </a:t>
            </a:r>
            <a:r>
              <a:rPr sz="1800" dirty="0" err="1"/>
              <a:t>informels</a:t>
            </a:r>
            <a:r>
              <a:rPr sz="1800" dirty="0"/>
              <a:t>, de </a:t>
            </a:r>
            <a:r>
              <a:rPr sz="1800" dirty="0" err="1"/>
              <a:t>l'importateur</a:t>
            </a:r>
            <a:r>
              <a:rPr sz="1800" dirty="0"/>
              <a:t> </a:t>
            </a:r>
            <a:r>
              <a:rPr sz="1800" dirty="0" err="1"/>
              <a:t>en</a:t>
            </a:r>
            <a:r>
              <a:rPr sz="1800" dirty="0"/>
              <a:t> </a:t>
            </a:r>
            <a:r>
              <a:rPr sz="1800" dirty="0" err="1"/>
              <a:t>gros</a:t>
            </a:r>
            <a:r>
              <a:rPr sz="1800" dirty="0"/>
              <a:t> au </a:t>
            </a:r>
            <a:r>
              <a:rPr sz="1800" dirty="0" err="1"/>
              <a:t>détaillant</a:t>
            </a:r>
            <a:r>
              <a:rPr lang="fr-FR" sz="1800" dirty="0"/>
              <a:t>, même ceux qui sont </a:t>
            </a:r>
            <a:r>
              <a:rPr sz="1800" dirty="0"/>
              <a:t>hors </a:t>
            </a:r>
            <a:r>
              <a:rPr sz="1800" dirty="0" err="1"/>
              <a:t>ligne</a:t>
            </a:r>
            <a:r>
              <a:rPr sz="1800" dirty="0"/>
              <a:t>.</a:t>
            </a:r>
          </a:p>
          <a:p>
            <a:pPr marL="1270000" indent="0">
              <a:buClr>
                <a:schemeClr val="accent1"/>
              </a:buClr>
              <a:buNone/>
            </a:pPr>
            <a:endParaRPr sz="1800" dirty="0">
              <a:latin typeface="Aptos" panose="020B0004020202020204" pitchFamily="34" charset="0"/>
            </a:endParaRP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90FE190-9224-453C-45BE-044ED747FE39}"/>
              </a:ext>
            </a:extLst>
          </p:cNvPr>
          <p:cNvSpPr/>
          <p:nvPr/>
        </p:nvSpPr>
        <p:spPr>
          <a:xfrm>
            <a:off x="457200" y="3562597"/>
            <a:ext cx="8116784" cy="973777"/>
          </a:xfrm>
          <a:prstGeom prst="roundRect">
            <a:avLst>
              <a:gd name="adj" fmla="val 6348"/>
            </a:avLst>
          </a:prstGeom>
          <a:solidFill>
            <a:schemeClr val="tx2"/>
          </a:solidFill>
          <a:ln w="0">
            <a:solidFill>
              <a:schemeClr val="tx2"/>
            </a:solidFill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1021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>
                <a:latin typeface="+mj-lt"/>
              </a:rPr>
              <a:t>Une douve cumulée  :  </a:t>
            </a:r>
            <a:r>
              <a:rPr lang="fr-FR">
                <a:solidFill>
                  <a:schemeClr val="accent1"/>
                </a:solidFill>
                <a:latin typeface="+mj-lt"/>
              </a:rPr>
              <a:t>demande  +  offre  +  confiance</a:t>
            </a:r>
            <a:r>
              <a:rPr lang="fr-FR">
                <a:latin typeface="+mj-lt"/>
              </a:rPr>
              <a:t> .</a:t>
            </a:r>
            <a:endParaRPr lang="fr-FR">
              <a:solidFill>
                <a:schemeClr val="accent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t>Le pro</a:t>
            </a:r>
            <a:r>
              <a:rPr lang="fr-FR"/>
              <a:t>duit est déjà construit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Clr>
                <a:schemeClr val="accent1"/>
              </a:buClr>
            </a:pPr>
            <a:r>
              <a:rPr lang="fr-CI" sz="1800" dirty="0">
                <a:solidFill>
                  <a:srgbClr val="1A1A1A"/>
                </a:solidFill>
                <a:effectLst/>
              </a:rPr>
              <a:t>Marketplace, </a:t>
            </a:r>
            <a:r>
              <a:rPr lang="fr-CI" sz="1800" b="1" dirty="0">
                <a:solidFill>
                  <a:srgbClr val="00113A"/>
                </a:solidFill>
                <a:effectLst/>
              </a:rPr>
              <a:t>paiement à la livraison</a:t>
            </a:r>
            <a:r>
              <a:rPr lang="fr-CI" sz="1800" dirty="0">
                <a:solidFill>
                  <a:srgbClr val="1A1A1A"/>
                </a:solidFill>
                <a:effectLst/>
              </a:rPr>
              <a:t>, garantie, facture : en production. </a:t>
            </a:r>
          </a:p>
          <a:p>
            <a:pPr>
              <a:buClr>
                <a:schemeClr val="accent1"/>
              </a:buClr>
            </a:pPr>
            <a:r>
              <a:rPr lang="fr-CI" sz="1800" dirty="0">
                <a:solidFill>
                  <a:srgbClr val="1A1A1A"/>
                </a:solidFill>
                <a:effectLst/>
              </a:rPr>
              <a:t>Recherche pièce par </a:t>
            </a:r>
            <a:r>
              <a:rPr lang="fr-CI" sz="1800" b="1" dirty="0">
                <a:solidFill>
                  <a:srgbClr val="00113A"/>
                </a:solidFill>
                <a:effectLst/>
              </a:rPr>
              <a:t>texte / photo IA / VIN</a:t>
            </a:r>
            <a:r>
              <a:rPr lang="fr-CI" sz="1800" dirty="0">
                <a:solidFill>
                  <a:srgbClr val="1A1A1A"/>
                </a:solidFill>
                <a:effectLst/>
              </a:rPr>
              <a:t>, compatibilité véhicule CI. </a:t>
            </a:r>
          </a:p>
          <a:p>
            <a:pPr>
              <a:buClr>
                <a:schemeClr val="accent1"/>
              </a:buClr>
            </a:pPr>
            <a:r>
              <a:rPr lang="fr-CI" sz="1800" b="1" dirty="0">
                <a:solidFill>
                  <a:srgbClr val="00113A"/>
                </a:solidFill>
                <a:effectLst/>
              </a:rPr>
              <a:t>Suite Flotte </a:t>
            </a:r>
            <a:r>
              <a:rPr lang="fr-CI" sz="1800" dirty="0">
                <a:solidFill>
                  <a:srgbClr val="1A1A1A"/>
                </a:solidFill>
                <a:effectLst/>
              </a:rPr>
              <a:t>(Pro 5 000 F · Pro + 10 000 F par véhicule/mois) + calculateur ROI. </a:t>
            </a:r>
          </a:p>
          <a:p>
            <a:pPr>
              <a:buClr>
                <a:schemeClr val="accent1"/>
              </a:buClr>
            </a:pPr>
            <a:r>
              <a:rPr lang="fr-CI" sz="1800" b="1" dirty="0">
                <a:solidFill>
                  <a:srgbClr val="00113A"/>
                </a:solidFill>
                <a:effectLst/>
              </a:rPr>
              <a:t>Bot WhatsApp</a:t>
            </a:r>
            <a:r>
              <a:rPr lang="fr-CI" sz="1800" dirty="0">
                <a:solidFill>
                  <a:srgbClr val="1A1A1A"/>
                </a:solidFill>
                <a:effectLst/>
              </a:rPr>
              <a:t>, portail entreprise en ligne sur </a:t>
            </a:r>
            <a:r>
              <a:rPr lang="fr-CI" sz="1800" dirty="0" err="1">
                <a:solidFill>
                  <a:srgbClr val="00113A"/>
                </a:solidFill>
                <a:effectLst/>
              </a:rPr>
              <a:t>flotte.pieces.ci</a:t>
            </a:r>
            <a:r>
              <a:rPr lang="fr-CI" sz="1800" dirty="0">
                <a:solidFill>
                  <a:srgbClr val="1A1A1A"/>
                </a:solidFill>
                <a:effectLst/>
              </a:rPr>
              <a:t>. </a:t>
            </a:r>
          </a:p>
          <a:p>
            <a:pPr>
              <a:buClr>
                <a:schemeClr val="accent1"/>
              </a:buClr>
            </a:pPr>
            <a:r>
              <a:rPr lang="fr-CI" sz="1800" b="1" dirty="0">
                <a:solidFill>
                  <a:srgbClr val="00113A"/>
                </a:solidFill>
                <a:effectLst/>
              </a:rPr>
              <a:t>7 137 annonces </a:t>
            </a:r>
            <a:r>
              <a:rPr lang="fr-CI" sz="1800" dirty="0">
                <a:solidFill>
                  <a:srgbClr val="1A1A1A"/>
                </a:solidFill>
                <a:effectLst/>
              </a:rPr>
              <a:t>déjà ingérées au catalogue. </a:t>
            </a:r>
          </a:p>
          <a:p>
            <a:pPr marL="0" indent="0">
              <a:buNone/>
            </a:pPr>
            <a:r>
              <a:rPr lang="fr-CI" sz="1800" dirty="0">
                <a:solidFill>
                  <a:srgbClr val="FF6A00"/>
                </a:solidFill>
                <a:effectLst/>
                <a:latin typeface="Lucida Grande" panose="020B0600040502020204" pitchFamily="34" charset="0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427371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rPr dirty="0"/>
              <a:t>Le </a:t>
            </a:r>
            <a:r>
              <a:rPr lang="fr-FR" dirty="0"/>
              <a:t>marché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Clr>
                <a:schemeClr val="accent1"/>
              </a:buClr>
            </a:pPr>
            <a:r>
              <a:rPr lang="fr-CI" sz="1800" dirty="0"/>
              <a:t>Parc national </a:t>
            </a:r>
            <a:r>
              <a:rPr lang="fr-CI" sz="1800" b="1" dirty="0">
                <a:solidFill>
                  <a:srgbClr val="00113A"/>
                </a:solidFill>
              </a:rPr>
              <a:t>~1,2 M véhicules </a:t>
            </a:r>
            <a:r>
              <a:rPr lang="fr-CI" sz="1800" dirty="0"/>
              <a:t>(Min. Transports, 2022). </a:t>
            </a:r>
          </a:p>
          <a:p>
            <a:pPr>
              <a:buClr>
                <a:schemeClr val="accent1"/>
              </a:buClr>
            </a:pPr>
            <a:r>
              <a:rPr lang="fr-CI" sz="1800" dirty="0"/>
              <a:t>Secteur auto </a:t>
            </a:r>
            <a:r>
              <a:rPr lang="fr-CI" sz="1800" b="1" dirty="0">
                <a:solidFill>
                  <a:srgbClr val="00113A"/>
                </a:solidFill>
              </a:rPr>
              <a:t>~400–420 Mds F/an</a:t>
            </a:r>
            <a:r>
              <a:rPr lang="fr-CI" sz="1800" dirty="0"/>
              <a:t>. </a:t>
            </a:r>
          </a:p>
          <a:p>
            <a:pPr>
              <a:buClr>
                <a:schemeClr val="accent1"/>
              </a:buClr>
            </a:pPr>
            <a:r>
              <a:rPr lang="fr-CI" sz="1800" dirty="0"/>
              <a:t>À une </a:t>
            </a:r>
            <a:r>
              <a:rPr lang="fr-CI" sz="1800" dirty="0" err="1"/>
              <a:t>take</a:t>
            </a:r>
            <a:r>
              <a:rPr lang="fr-CI" sz="1800" dirty="0"/>
              <a:t> rate de ~10 %, le SOM représente </a:t>
            </a:r>
            <a:r>
              <a:rPr lang="fr-CI" sz="1800" b="1" dirty="0">
                <a:solidFill>
                  <a:srgbClr val="00113A"/>
                </a:solidFill>
              </a:rPr>
              <a:t>4–6 Mds FCFA de revenu net annuel.</a:t>
            </a:r>
          </a:p>
          <a:p>
            <a:pPr marL="0" indent="0">
              <a:buNone/>
            </a:pPr>
            <a:r>
              <a:rPr lang="fr-CI" sz="1400" dirty="0">
                <a:solidFill>
                  <a:srgbClr val="FF6A00"/>
                </a:solidFill>
                <a:effectLst/>
                <a:latin typeface="Lucida Grande" panose="020B0600040502020204" pitchFamily="34" charset="0"/>
              </a:rPr>
              <a:t> </a:t>
            </a:r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63DCEC73-829D-5D0E-010C-468B9A29AB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9159007"/>
              </p:ext>
            </p:extLst>
          </p:nvPr>
        </p:nvGraphicFramePr>
        <p:xfrm>
          <a:off x="2019300" y="2570900"/>
          <a:ext cx="51054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Marché pièces / 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TAM</a:t>
                      </a:r>
                      <a:r>
                        <a:t> — national (pièces seules)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SAM</a:t>
                      </a:r>
                      <a:r>
                        <a:t> — Abidjan adressable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 dirty="0"/>
                        <a:t>SOM</a:t>
                      </a:r>
                      <a:r>
                        <a:rPr dirty="0"/>
                        <a:t> — 5 </a:t>
                      </a:r>
                      <a:r>
                        <a:rPr dirty="0" err="1"/>
                        <a:t>ans</a:t>
                      </a:r>
                      <a:r>
                        <a:rPr dirty="0"/>
                        <a:t>, GMV </a:t>
                      </a:r>
                      <a:r>
                        <a:rPr dirty="0" err="1"/>
                        <a:t>intermédié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 dirty="0"/>
                        <a:t>35–50 </a:t>
                      </a:r>
                      <a:r>
                        <a:rPr b="1" dirty="0" err="1"/>
                        <a:t>Mds</a:t>
                      </a:r>
                      <a:r>
                        <a:rPr b="1" dirty="0"/>
                        <a:t>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319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rPr dirty="0" err="1"/>
              <a:t>Pourquoi</a:t>
            </a:r>
            <a:r>
              <a:rPr dirty="0"/>
              <a:t> </a:t>
            </a:r>
            <a:r>
              <a:rPr dirty="0" err="1"/>
              <a:t>maintenant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rPr b="1" dirty="0"/>
              <a:t>Uber a </a:t>
            </a:r>
            <a:r>
              <a:rPr b="1" dirty="0" err="1"/>
              <a:t>quitté</a:t>
            </a:r>
            <a:r>
              <a:rPr b="1" dirty="0"/>
              <a:t> la Côte d'Ivoire (sept. 2025)</a:t>
            </a:r>
            <a:r>
              <a:rPr dirty="0"/>
              <a:t> → </a:t>
            </a:r>
            <a:r>
              <a:rPr b="1" dirty="0" err="1"/>
              <a:t>Yango</a:t>
            </a:r>
            <a:r>
              <a:rPr b="1" dirty="0"/>
              <a:t> ultra-dominant</a:t>
            </a:r>
            <a:r>
              <a:rPr dirty="0"/>
              <a:t> : ~25 000 </a:t>
            </a:r>
            <a:r>
              <a:rPr dirty="0" err="1"/>
              <a:t>véhicules</a:t>
            </a:r>
            <a:r>
              <a:rPr dirty="0"/>
              <a:t>, **~100 000 courses/jour**, 160+ </a:t>
            </a:r>
            <a:r>
              <a:rPr dirty="0" err="1"/>
              <a:t>entreprises</a:t>
            </a:r>
            <a:r>
              <a:rPr dirty="0"/>
              <a:t> de </a:t>
            </a:r>
            <a:r>
              <a:rPr dirty="0" err="1"/>
              <a:t>flotte</a:t>
            </a:r>
            <a:r>
              <a:rPr dirty="0"/>
              <a:t>, HQ </a:t>
            </a:r>
            <a:r>
              <a:rPr dirty="0" err="1"/>
              <a:t>régional</a:t>
            </a:r>
            <a:r>
              <a:rPr dirty="0"/>
              <a:t> </a:t>
            </a:r>
            <a:r>
              <a:rPr dirty="0" err="1"/>
              <a:t>à</a:t>
            </a:r>
            <a:r>
              <a:rPr dirty="0"/>
              <a:t> Abidjan. Un </a:t>
            </a:r>
            <a:r>
              <a:rPr dirty="0" err="1"/>
              <a:t>partenaire</a:t>
            </a:r>
            <a:r>
              <a:rPr dirty="0"/>
              <a:t> </a:t>
            </a:r>
            <a:r>
              <a:rPr dirty="0" err="1"/>
              <a:t>flotte</a:t>
            </a:r>
            <a:r>
              <a:rPr dirty="0"/>
              <a:t> </a:t>
            </a:r>
            <a:r>
              <a:rPr dirty="0" err="1"/>
              <a:t>évident</a:t>
            </a:r>
            <a:r>
              <a:rPr dirty="0"/>
              <a:t>.</a:t>
            </a:r>
          </a:p>
          <a:p>
            <a:pPr lvl="0"/>
            <a:r>
              <a:rPr b="1" dirty="0"/>
              <a:t>Parc qui </a:t>
            </a:r>
            <a:r>
              <a:rPr b="1" dirty="0" err="1"/>
              <a:t>rajeunit</a:t>
            </a:r>
            <a:r>
              <a:rPr dirty="0"/>
              <a:t> : importations de </a:t>
            </a:r>
            <a:r>
              <a:rPr dirty="0" err="1"/>
              <a:t>neuf</a:t>
            </a:r>
            <a:r>
              <a:rPr dirty="0"/>
              <a:t> </a:t>
            </a:r>
            <a:r>
              <a:rPr dirty="0" err="1"/>
              <a:t>triplées</a:t>
            </a:r>
            <a:r>
              <a:rPr dirty="0"/>
              <a:t> </a:t>
            </a:r>
            <a:r>
              <a:rPr dirty="0" err="1"/>
              <a:t>depuis</a:t>
            </a:r>
            <a:r>
              <a:rPr dirty="0"/>
              <a:t> 2017, restriction de </a:t>
            </a:r>
            <a:r>
              <a:rPr dirty="0" err="1"/>
              <a:t>l'âge</a:t>
            </a:r>
            <a:r>
              <a:rPr dirty="0"/>
              <a:t> des </a:t>
            </a:r>
            <a:r>
              <a:rPr dirty="0" err="1"/>
              <a:t>véhicules</a:t>
            </a:r>
            <a:r>
              <a:rPr dirty="0"/>
              <a:t>.</a:t>
            </a:r>
          </a:p>
          <a:p>
            <a:pPr lvl="0"/>
            <a:r>
              <a:rPr b="1" dirty="0"/>
              <a:t>Mobile Money massif</a:t>
            </a:r>
            <a:r>
              <a:rPr dirty="0"/>
              <a:t> (Orange Money, MTN, Wave) → </a:t>
            </a:r>
            <a:r>
              <a:rPr dirty="0" err="1"/>
              <a:t>paiement</a:t>
            </a:r>
            <a:r>
              <a:rPr dirty="0"/>
              <a:t> </a:t>
            </a:r>
            <a:r>
              <a:rPr dirty="0" err="1"/>
              <a:t>à</a:t>
            </a:r>
            <a:r>
              <a:rPr dirty="0"/>
              <a:t> la livraison </a:t>
            </a:r>
            <a:r>
              <a:rPr dirty="0" err="1"/>
              <a:t>fiable</a:t>
            </a:r>
            <a:r>
              <a:rPr dirty="0"/>
              <a:t> et </a:t>
            </a:r>
            <a:r>
              <a:rPr dirty="0" err="1"/>
              <a:t>traçable</a:t>
            </a:r>
            <a:r>
              <a:rPr dirty="0"/>
              <a:t>.</a:t>
            </a:r>
          </a:p>
          <a:p>
            <a:pPr lvl="0"/>
            <a:r>
              <a:rPr b="1" dirty="0" err="1"/>
              <a:t>Formalisation</a:t>
            </a:r>
            <a:r>
              <a:rPr b="1" dirty="0"/>
              <a:t> </a:t>
            </a:r>
            <a:r>
              <a:rPr b="1" dirty="0" err="1"/>
              <a:t>fiscale</a:t>
            </a:r>
            <a:r>
              <a:rPr b="1" dirty="0"/>
              <a:t> (FNE-CI)</a:t>
            </a:r>
            <a:r>
              <a:rPr dirty="0"/>
              <a:t> → </a:t>
            </a:r>
            <a:r>
              <a:rPr dirty="0" err="1"/>
              <a:t>fenêtre</a:t>
            </a:r>
            <a:r>
              <a:rPr dirty="0"/>
              <a:t> pour </a:t>
            </a:r>
            <a:r>
              <a:rPr dirty="0" err="1"/>
              <a:t>devenir</a:t>
            </a:r>
            <a:r>
              <a:rPr dirty="0"/>
              <a:t> le standard de la facture pièce.</a:t>
            </a:r>
          </a:p>
          <a:p>
            <a:pPr marL="1270000" lvl="0" indent="0">
              <a:buNone/>
            </a:pPr>
            <a:r>
              <a:rPr sz="2000" dirty="0" err="1"/>
              <a:t>Personne</a:t>
            </a:r>
            <a:r>
              <a:rPr sz="2000" dirty="0"/>
              <a:t> </a:t>
            </a:r>
            <a:r>
              <a:rPr sz="2000" dirty="0" err="1"/>
              <a:t>n'a</a:t>
            </a:r>
            <a:r>
              <a:rPr sz="2000" dirty="0"/>
              <a:t> </a:t>
            </a:r>
            <a:r>
              <a:rPr sz="2000" dirty="0" err="1"/>
              <a:t>tenu</a:t>
            </a:r>
            <a:r>
              <a:rPr sz="2000" dirty="0"/>
              <a:t> la </a:t>
            </a:r>
            <a:r>
              <a:rPr sz="2000" dirty="0" err="1"/>
              <a:t>combinaison</a:t>
            </a:r>
            <a:r>
              <a:rPr sz="2000" dirty="0"/>
              <a:t> </a:t>
            </a:r>
            <a:r>
              <a:rPr sz="2000" b="1" dirty="0"/>
              <a:t>marketplace + </a:t>
            </a:r>
            <a:r>
              <a:rPr sz="2000" b="1" dirty="0" err="1"/>
              <a:t>flotte</a:t>
            </a:r>
            <a:r>
              <a:rPr sz="2000" b="1" dirty="0"/>
              <a:t> + terrain</a:t>
            </a:r>
            <a:r>
              <a:rPr sz="2000" dirty="0"/>
              <a:t> </a:t>
            </a:r>
            <a:r>
              <a:rPr sz="2000" dirty="0" err="1"/>
              <a:t>à</a:t>
            </a:r>
            <a:r>
              <a:rPr sz="2000" dirty="0"/>
              <a:t> Abidjan. La </a:t>
            </a:r>
            <a:r>
              <a:rPr sz="2000" dirty="0" err="1"/>
              <a:t>fenêtre</a:t>
            </a:r>
            <a:r>
              <a:rPr sz="2000" dirty="0"/>
              <a:t> </a:t>
            </a:r>
            <a:r>
              <a:rPr sz="2000" dirty="0" err="1"/>
              <a:t>est</a:t>
            </a:r>
            <a:r>
              <a:rPr sz="2000" dirty="0"/>
              <a:t> ouverte </a:t>
            </a:r>
            <a:r>
              <a:rPr sz="2000" dirty="0" err="1"/>
              <a:t>maintenant</a:t>
            </a:r>
            <a:r>
              <a:rPr sz="2000"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t>Le VTC ivoirien a explosé : </a:t>
            </a:r>
            <a:r>
              <a:rPr b="1"/>
              <a:t>~30 000 véhicules en 2026</a:t>
            </a:r>
            <a:r>
              <a:t> (vs 5–6k en 2024), Yango ~25 000 à Abidjan. C'est </a:t>
            </a:r>
            <a:r>
              <a:rPr b="1"/>
              <a:t>le meilleur point d'entrée</a:t>
            </a:r>
            <a:r>
              <a:t>, pas le plus gros segment :</a:t>
            </a:r>
          </a:p>
          <a:p>
            <a:pPr lvl="0"/>
            <a:r>
              <a:t>Un VTC roule </a:t>
            </a:r>
            <a:r>
              <a:rPr b="1"/>
              <a:t>~44 000 km/an</a:t>
            </a:r>
            <a:r>
              <a:t> (3× un particulier) → use ses pièces 3× plus vite (</a:t>
            </a:r>
            <a:r>
              <a:rPr b="1"/>
              <a:t>~1,3 M F/an</a:t>
            </a:r>
            <a:r>
              <a:t> de pièces).</a:t>
            </a:r>
          </a:p>
          <a:p>
            <a:pPr lvl="0"/>
            <a:r>
              <a:t>Chaque jour d'immobilisation </a:t>
            </a:r>
            <a:r>
              <a:rPr b="1"/>
              <a:t>détruit du revenu</a:t>
            </a:r>
            <a:r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t> Yango = cibles B2B concentrées et immédiates.</a:t>
            </a:r>
          </a:p>
          <a:p>
            <a:pPr lvl="0"/>
            <a:r>
              <a:t>Idéal pour prouver le ROI et bâtir la </a:t>
            </a:r>
            <a:r>
              <a:rPr b="1"/>
              <a:t>data fitments</a:t>
            </a:r>
            <a:r>
              <a:t>, avant d'étendre au parc entier (taxis, gbaka, BTP, corporate).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Unit economics</a:t>
            </a:r>
            <a:r>
              <a:t> : panier moyen </a:t>
            </a:r>
            <a:r>
              <a:rPr b="1"/>
              <a:t>32 000 F</a:t>
            </a:r>
            <a:r>
              <a:t>, take rate </a:t>
            </a:r>
            <a:r>
              <a:rPr b="1"/>
              <a:t>10 %</a:t>
            </a:r>
            <a:r>
              <a:t> → </a:t>
            </a:r>
            <a:r>
              <a:rPr b="1"/>
              <a:t>3 200 F/commande</a:t>
            </a:r>
            <a:r>
              <a:t> · LTV Flotte Pro </a:t>
            </a:r>
            <a:r>
              <a:rPr b="1"/>
              <a:t>~85 000 F/véhicule</a:t>
            </a:r>
            <a:r>
              <a:t> · </a:t>
            </a:r>
            <a:r>
              <a:rPr b="1"/>
              <a:t>LTV/CAC &gt; 4</a:t>
            </a:r>
            <a:r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2308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Commission marketplace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7–15 %, au paiement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Abonnement Flotte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5 000 F/véh/mois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Abonnement Flotte Pro 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10 000 F/véh/mois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Conformité / facturation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forfait FNE-CI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b="1"/>
              <a:t>M0–6</a:t>
            </a:r>
            <a:r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t> : prendre le VTC (</a:t>
            </a:r>
            <a:r>
              <a:rPr b="1"/>
              <a:t>partenariat Yango</a:t>
            </a:r>
            <a:r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t> : devenir le </a:t>
            </a:r>
            <a:r>
              <a:rPr b="1"/>
              <a:t>standard FNE-CI</a:t>
            </a:r>
            <a:r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t> : sortir d'Abidjan (Bouaké, San Pedro) + pilote sous-régional.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t>Concurrent réel = </a:t>
            </a:r>
            <a:r>
              <a:rPr b="1"/>
              <a:t>magasins + WhatsApp + Excel</a:t>
            </a:r>
            <a:r>
              <a:t>. Aucun acteur structuré à l'échelle nationale.</a:t>
            </a:r>
          </a:p>
          <a:p>
            <a:pPr marL="0" lvl="0" indent="0">
              <a:buNone/>
            </a:pPr>
            <a:r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t> — inattaquable à 100 000 transactions.</a:t>
            </a:r>
          </a:p>
          <a:p>
            <a:pPr lvl="0"/>
            <a:r>
              <a:rPr b="1"/>
              <a:t>Paiement à la livraison + garantie</a:t>
            </a:r>
            <a:r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t> — verrou réglementaire.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Commandes/jour (fin)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2 800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Véhicules abonnés (fin)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8 000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~2,9 Mds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~11,5 Mds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~26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négatif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≈ break-even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positif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85000" lnSpcReduction="20000"/>
          </a:bodyPr>
          <a:lstStyle/>
          <a:p>
            <a:pPr marL="1270000" lvl="0" indent="0">
              <a:buNone/>
            </a:pPr>
            <a:r>
              <a:rPr sz="2000"/>
              <a:t>Pre-seed </a:t>
            </a:r>
            <a:r>
              <a:rPr sz="2000" b="1"/>
              <a:t>~1 M EUR (≈ 655 M FCFA)</a:t>
            </a:r>
            <a:r>
              <a:rPr sz="2000"/>
              <a:t> — 18 à 20 mois de runway. Fourchette 0,7–1,3 M EUR selon l'ambition de calendrier. Justifié par l'intensité capitalistique du modèle (ops terrain + stock tampon).</a:t>
            </a:r>
          </a:p>
          <a:p>
            <a:pPr marL="0" lvl="0" indent="0">
              <a:buNone/>
            </a:pPr>
            <a:r>
              <a:rPr b="1"/>
              <a:t>Jalons débloqués</a:t>
            </a:r>
            <a:r>
              <a:t> : 1 500 véhicules abonnés, 600 commandes/jour, GMV &gt; 250 M F/mois, break-even Abidjan à M18 → </a:t>
            </a:r>
            <a:r>
              <a:rPr b="1"/>
              <a:t>Seed 4–6 M EUR</a:t>
            </a:r>
            <a:r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1988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Liaison &amp; opérations terrain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Commercial &amp; GTM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Produit &amp; 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G&amp;A, finance, conformité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Fonds de roulement &amp; contingence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00" lvl="0" indent="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marL="0" lvl="0" indent="0">
              <a:buNone/>
            </a:pPr>
            <a:r>
              <a:t>Abidjan d'abord. Puis la Côte d'Ivoire. Puis Dakar, Cotonou, et la sous-région — même modèle, même Mobile Money, même parc.</a:t>
            </a:r>
          </a:p>
          <a:p>
            <a:pPr marL="0" lvl="0" indent="0">
              <a:buNone/>
            </a:pPr>
            <a:r>
              <a:rPr b="1"/>
              <a:t>Pièces — votre flotte, votre coût, votre contrôle.</a:t>
            </a:r>
          </a:p>
          <a:p>
            <a:pPr marL="0" lvl="0" indent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ieces">
      <a:dk1>
        <a:sysClr val="windowText" lastClr="000000"/>
      </a:dk1>
      <a:lt1>
        <a:sysClr val="window" lastClr="FFFFFF"/>
      </a:lt1>
      <a:dk2>
        <a:srgbClr val="00113A"/>
      </a:dk2>
      <a:lt2>
        <a:srgbClr val="F5F5F4"/>
      </a:lt2>
      <a:accent1>
        <a:srgbClr val="FF6B00"/>
      </a:accent1>
      <a:accent2>
        <a:srgbClr val="00113A"/>
      </a:accent2>
      <a:accent3>
        <a:srgbClr val="888888"/>
      </a:accent3>
      <a:accent4>
        <a:srgbClr val="1A1A1A"/>
      </a:accent4>
      <a:accent5>
        <a:srgbClr val="FF8A33"/>
      </a:accent5>
      <a:accent6>
        <a:srgbClr val="00204F"/>
      </a:accent6>
      <a:hlink>
        <a:srgbClr val="FF6B00"/>
      </a:hlink>
      <a:folHlink>
        <a:srgbClr val="00113A"/>
      </a:folHlink>
    </a:clrScheme>
    <a:fontScheme name="Office">
      <a:majorFont>
        <a:latin typeface="Gloo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strumen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1174</Words>
  <Application>Microsoft Macintosh PowerPoint</Application>
  <PresentationFormat>Affichage à l'écran (16:9)</PresentationFormat>
  <Paragraphs>121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Aptos</vt:lpstr>
      <vt:lpstr>Arial</vt:lpstr>
      <vt:lpstr>Gloock</vt:lpstr>
      <vt:lpstr>Instrument Sans</vt:lpstr>
      <vt:lpstr>Lucida Grande</vt:lpstr>
      <vt:lpstr>Office Theme</vt:lpstr>
      <vt:lpstr>Présentation PowerPoint</vt:lpstr>
      <vt:lpstr>Le problème</vt:lpstr>
      <vt:lpstr>La solution</vt:lpstr>
      <vt:lpstr>Le produit est déjà construit</vt:lpstr>
      <vt:lpstr>Le marché</vt:lpstr>
      <vt:lpstr>Pourquoi maintenant</vt:lpstr>
      <vt:lpstr>Le beachhead : le VTC</vt:lpstr>
      <vt:lpstr>Modèle économique</vt:lpstr>
      <vt:lpstr>Go-to-market — 5 mouvements</vt:lpstr>
      <vt:lpstr>Concurrence &amp; douve</vt:lpstr>
      <vt:lpstr>Projections</vt:lpstr>
      <vt:lpstr>La demande</vt:lpstr>
      <vt:lpstr>Vision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/>
  <cp:keywords/>
  <cp:lastModifiedBy>Microsoft Office User</cp:lastModifiedBy>
  <cp:revision>5</cp:revision>
  <dcterms:created xsi:type="dcterms:W3CDTF">2026-06-07T17:57:52Z</dcterms:created>
  <dcterms:modified xsi:type="dcterms:W3CDTF">2026-06-08T18:34:08Z</dcterms:modified>
</cp:coreProperties>
</file>