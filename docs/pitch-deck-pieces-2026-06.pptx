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fernando.kouame@gmail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Pièces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Pièces optimise les dépenses automobiles de tout le monde en Côte d'Ivoire — du propriétaire d'un véhicule au gestionnaire d'une flotte. Marketplace + flotte + réseau terrain, sur un marché de ~250 Mds FCFA/an, fragmenté et largement informel.</a:t>
            </a:r>
          </a:p>
          <a:p>
            <a:pPr lvl="0" indent="0" marL="1270000">
              <a:buNone/>
            </a:pPr>
            <a:r>
              <a:rPr sz="2000"/>
              <a:t>La pièce qu'il te faut, </a:t>
            </a:r>
            <a:r>
              <a:rPr sz="2000" b="1"/>
              <a:t>au juste prix</a:t>
            </a:r>
            <a:r>
              <a:rPr sz="2000"/>
              <a:t>, livrée et garantie. Pre-seed ~1 M EUR · Juin 2026 · Abidjan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Acheter une pièce auto à Abidjan = un parcours du combattant. Le marché est </a:t>
            </a:r>
            <a:r>
              <a:rPr b="1"/>
              <a:t>largement informel</a:t>
            </a:r>
            <a:r>
              <a:rPr/>
              <a:t> : pas de catalogue, pas de prix affiché, pas de garantie, pas de facture.</a:t>
            </a:r>
          </a:p>
          <a:p>
            <a:pPr lvl="0" indent="0" marL="0">
              <a:buNone/>
            </a:pPr>
            <a:r>
              <a:rPr b="1"/>
              <a:t>Chaque intermédiaire ajoute sa marge</a:t>
            </a:r>
            <a:r>
              <a:rPr/>
              <a:t> — importateur, grossiste, détaillant, mécanicien : l'acheteur paie l'accumulation, sans jamais voir le vrai prix.</a:t>
            </a:r>
          </a:p>
          <a:p>
            <a:pPr lvl="0"/>
            <a:r>
              <a:rPr b="1"/>
              <a:t>Propriétaire</a:t>
            </a:r>
            <a:r>
              <a:rPr/>
              <a:t> : paie 30 à 60 % trop cher, sans garantie.</a:t>
            </a:r>
          </a:p>
          <a:p>
            <a:pPr lvl="0"/>
            <a:r>
              <a:rPr b="1"/>
              <a:t>Flotte</a:t>
            </a:r>
            <a:r>
              <a:rPr/>
              <a:t> : perd </a:t>
            </a:r>
            <a:r>
              <a:rPr b="1"/>
              <a:t>25 000 à 50 000 F/jour</a:t>
            </a:r>
            <a:r>
              <a:rPr/>
              <a:t> par véhicule immobilisé ; budget pièces opaque.</a:t>
            </a:r>
          </a:p>
          <a:p>
            <a:pPr lvl="0"/>
            <a:r>
              <a:rPr b="1"/>
              <a:t>Vendeur</a:t>
            </a:r>
            <a:r>
              <a:rPr/>
              <a:t> : enfermé dans son comptoir, invisible en ligne.</a:t>
            </a:r>
          </a:p>
          <a:p>
            <a:pPr lvl="0"/>
            <a:r>
              <a:rPr b="1"/>
              <a:t>État</a:t>
            </a:r>
            <a:r>
              <a:rPr/>
              <a:t> : ni TVA, ni traçabilité.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Trois produits, une seule infrastructure :</a:t>
            </a:r>
          </a:p>
          <a:p>
            <a:pPr lvl="0"/>
            <a:r>
              <a:rPr b="1"/>
              <a:t>Marketplace tripartite</a:t>
            </a:r>
            <a:r>
              <a:rPr/>
              <a:t> — le mécanicien identifie, le vendeur livre, le propriétaire </a:t>
            </a:r>
            <a:r>
              <a:rPr b="1"/>
              <a:t>paie à la livraison</a:t>
            </a:r>
            <a:r>
              <a:rPr/>
              <a:t>. Prix et condition affichés, garantie, facture.</a:t>
            </a:r>
          </a:p>
          <a:p>
            <a:pPr lvl="0"/>
            <a:r>
              <a:rPr b="1"/>
              <a:t>Suite Flotte (B2B)</a:t>
            </a:r>
            <a:r>
              <a:rPr/>
              <a:t> — pilotage du coût total de possession, détection des véhicules « gouffres », livraison express prioritaire, conformité fiscale.</a:t>
            </a:r>
          </a:p>
          <a:p>
            <a:pPr lvl="0"/>
            <a:r>
              <a:rPr b="1"/>
              <a:t>Réseau Liaison</a:t>
            </a:r>
            <a:r>
              <a:rPr/>
              <a:t> — des agents terrain digitalisent les vendeurs </a:t>
            </a:r>
            <a:r>
              <a:rPr b="1"/>
              <a:t>formels et informels</a:t>
            </a:r>
            <a:r>
              <a:rPr/>
              <a:t>, de l'importateur en gros au détaillant — même hors ligne.</a:t>
            </a:r>
          </a:p>
          <a:p>
            <a:pPr lvl="0" indent="0" marL="1270000">
              <a:buNone/>
            </a:pPr>
            <a:r>
              <a:rPr sz="2000"/>
              <a:t>Une douve cumulée : </a:t>
            </a:r>
            <a:r>
              <a:rPr sz="2000" b="1"/>
              <a:t>demande + offre + conformité</a:t>
            </a:r>
            <a:r>
              <a:rPr sz="2000"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produit est déjà construit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Marketplace, </a:t>
            </a:r>
            <a:r>
              <a:rPr b="1"/>
              <a:t>paiement à la livraison</a:t>
            </a:r>
            <a:r>
              <a:rPr/>
              <a:t>, garantie, facture — en production.</a:t>
            </a:r>
          </a:p>
          <a:p>
            <a:pPr lvl="0"/>
            <a:r>
              <a:rPr/>
              <a:t>Recherche pièce par </a:t>
            </a:r>
            <a:r>
              <a:rPr b="1"/>
              <a:t>texte / photo IA / VIN</a:t>
            </a:r>
            <a:r>
              <a:rPr/>
              <a:t>, fitment véhicule CI.</a:t>
            </a:r>
          </a:p>
          <a:p>
            <a:pPr lvl="0"/>
            <a:r>
              <a:rPr b="1"/>
              <a:t>Suite Flotte</a:t>
            </a:r>
            <a:r>
              <a:rPr/>
              <a:t> (Pro 5 000 F · Pro + 10 000 F par véhicule/mois) + calculateur ROI.</a:t>
            </a:r>
          </a:p>
          <a:p>
            <a:pPr lvl="0"/>
            <a:r>
              <a:rPr b="1"/>
              <a:t>Bot WhatsApp</a:t>
            </a:r>
            <a:r>
              <a:rPr/>
              <a:t>, portail entreprise en ligne sur </a:t>
            </a:r>
            <a:r>
              <a:rPr>
                <a:latin typeface="Courier"/>
              </a:rPr>
              <a:t>flotte.pieces.ci</a:t>
            </a:r>
            <a:r>
              <a:rPr/>
              <a:t>.</a:t>
            </a:r>
          </a:p>
          <a:p>
            <a:pPr lvl="0"/>
            <a:r>
              <a:rPr b="1"/>
              <a:t>7 137 annonces</a:t>
            </a:r>
            <a:r>
              <a:rPr/>
              <a:t> déjà ingérées au catalogue (Jumia, CoinAfrique, global-auto).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 marché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Parc national </a:t>
            </a:r>
            <a:r>
              <a:rPr b="1"/>
              <a:t>~1,2 M véhicules</a:t>
            </a:r>
            <a:r>
              <a:rPr/>
              <a:t> (Min. Transports, 2022). Secteur auto </a:t>
            </a:r>
            <a:r>
              <a:rPr b="1"/>
              <a:t>~400–420 Mds F/an</a:t>
            </a:r>
            <a:r>
              <a:rPr/>
              <a:t>. À une take rate de ~10 %, le SOM représente </a:t>
            </a:r>
            <a:r>
              <a:rPr b="1"/>
              <a:t>4–6 Mds FCFA de revenu net annuel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Marché pièces / 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TAM</a:t>
                      </a:r>
                      <a:r>
                        <a:rPr/>
                        <a:t> — national (pièces seules)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~250 Mds 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SAM</a:t>
                      </a:r>
                      <a:r>
                        <a:rPr/>
                        <a:t> — Abidjan adressable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~172 Mds 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SOM</a:t>
                      </a:r>
                      <a:r>
                        <a:rPr/>
                        <a:t> — 5 ans, GMV intermédié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35–50 Mds F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Pourquoi maintenant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Uber a quitté la Côte d'Ivoire (sept. 2025)</a:t>
            </a:r>
            <a:r>
              <a:rPr/>
              <a:t> → </a:t>
            </a:r>
            <a:r>
              <a:rPr b="1"/>
              <a:t>Yango ultra-dominant</a:t>
            </a:r>
            <a:r>
              <a:rPr/>
              <a:t> : ~25 000 véhicules, **~100 000 courses/jour**, 160+ entreprises de flotte, HQ régional à Abidjan. Un partenaire flotte évident.</a:t>
            </a:r>
          </a:p>
          <a:p>
            <a:pPr lvl="0"/>
            <a:r>
              <a:rPr b="1"/>
              <a:t>Parc qui rajeunit</a:t>
            </a:r>
            <a:r>
              <a:rPr/>
              <a:t> : importations de neuf triplées depuis 2017, restriction de l'âge des véhicules.</a:t>
            </a:r>
          </a:p>
          <a:p>
            <a:pPr lvl="0"/>
            <a:r>
              <a:rPr b="1"/>
              <a:t>Mobile Money massif</a:t>
            </a:r>
            <a:r>
              <a:rPr/>
              <a:t> (Orange Money, MTN, Wave) → paiement à la livraison fiable et traçable.</a:t>
            </a:r>
          </a:p>
          <a:p>
            <a:pPr lvl="0"/>
            <a:r>
              <a:rPr b="1"/>
              <a:t>Formalisation fiscale (FNE-CI)</a:t>
            </a:r>
            <a:r>
              <a:rPr/>
              <a:t> → fenêtre pour devenir le standard de la facture pièce.</a:t>
            </a:r>
          </a:p>
          <a:p>
            <a:pPr lvl="0" indent="0" marL="1270000">
              <a:buNone/>
            </a:pPr>
            <a:r>
              <a:rPr sz="2000"/>
              <a:t>Personne n'a tenu la combinaison </a:t>
            </a:r>
            <a:r>
              <a:rPr sz="2000" b="1"/>
              <a:t>marketplace + flotte + terrain</a:t>
            </a:r>
            <a:r>
              <a:rPr sz="2000"/>
              <a:t> à Abidjan. La fenêtre est ouverte maintenant.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beachhead : le VTC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VTC ivoirien a explosé : </a:t>
            </a:r>
            <a:r>
              <a:rPr b="1"/>
              <a:t>~30 000 véhicules en 2026</a:t>
            </a:r>
            <a:r>
              <a:rPr/>
              <a:t> (vs 5–6k en 2024), Yango ~25 000 à Abidjan. C'est </a:t>
            </a:r>
            <a:r>
              <a:rPr b="1"/>
              <a:t>le meilleur point d'entrée</a:t>
            </a:r>
            <a:r>
              <a:rPr/>
              <a:t>, pas le plus gros segment :</a:t>
            </a:r>
          </a:p>
          <a:p>
            <a:pPr lvl="0"/>
            <a:r>
              <a:rPr/>
              <a:t>Un VTC roule </a:t>
            </a:r>
            <a:r>
              <a:rPr b="1"/>
              <a:t>~44 000 km/an</a:t>
            </a:r>
            <a:r>
              <a:rPr/>
              <a:t> (3× un particulier) → use ses pièces 3× plus vite (</a:t>
            </a:r>
            <a:r>
              <a:rPr b="1"/>
              <a:t>~1,3 M F/an</a:t>
            </a:r>
            <a:r>
              <a:rPr/>
              <a:t> de pièces).</a:t>
            </a:r>
          </a:p>
          <a:p>
            <a:pPr lvl="0"/>
            <a:r>
              <a:rPr/>
              <a:t>Chaque jour d'immobilisation </a:t>
            </a:r>
            <a:r>
              <a:rPr b="1"/>
              <a:t>détruit du revenu</a:t>
            </a:r>
            <a:r>
              <a:rPr/>
              <a:t> (15–30k F/jour) → douleur aiguë et mesurable.</a:t>
            </a:r>
          </a:p>
          <a:p>
            <a:pPr lvl="0"/>
            <a:r>
              <a:rPr b="1"/>
              <a:t>~160 entreprises de flotte</a:t>
            </a:r>
            <a:r>
              <a:rPr/>
              <a:t> Yango = cibles B2B concentrées et immédiates.</a:t>
            </a:r>
          </a:p>
          <a:p>
            <a:pPr lvl="0"/>
            <a:r>
              <a:rPr/>
              <a:t>Idéal pour prouver le ROI et bâtir la </a:t>
            </a:r>
            <a:r>
              <a:rPr b="1"/>
              <a:t>data fitments</a:t>
            </a:r>
            <a:r>
              <a:rPr/>
              <a:t>, avant d'étendre au parc entier (taxis, gbaka, BTP, corporate).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Modèle économique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Unit economics</a:t>
            </a:r>
            <a:r>
              <a:rPr/>
              <a:t> : panier moyen </a:t>
            </a:r>
            <a:r>
              <a:rPr b="1"/>
              <a:t>32 000 F</a:t>
            </a:r>
            <a:r>
              <a:rPr/>
              <a:t>, take rate </a:t>
            </a:r>
            <a:r>
              <a:rPr b="1"/>
              <a:t>10 %</a:t>
            </a:r>
            <a:r>
              <a:rPr/>
              <a:t> → </a:t>
            </a:r>
            <a:r>
              <a:rPr b="1"/>
              <a:t>3 200 F/commande</a:t>
            </a:r>
            <a:r>
              <a:rPr/>
              <a:t> · LTV Flotte Pro </a:t>
            </a:r>
            <a:r>
              <a:rPr b="1"/>
              <a:t>~85 000 F/véhicule</a:t>
            </a:r>
            <a:r>
              <a:rPr/>
              <a:t> · </a:t>
            </a:r>
            <a:r>
              <a:rPr b="1"/>
              <a:t>LTV/CAC &gt; 4</a:t>
            </a:r>
            <a:r>
              <a:rPr/>
              <a:t> dès M12.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Mécanique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Commission marketplace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7–15 %, au paiement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Abonnement Flotte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5 000 F/véh/mois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Abonnement Flotte Pro 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10 000 F/véh/mois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Conformité / facturation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forfait FNE-CI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Go-to-market — 5 mouvements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M0–6</a:t>
            </a:r>
            <a:r>
              <a:rPr/>
              <a:t> : verrouiller Adjamé/Yopougon (20 Liaisons, 300 vendeurs, 350 commandes/jour).</a:t>
            </a:r>
          </a:p>
          <a:p>
            <a:pPr lvl="0"/>
            <a:r>
              <a:rPr b="1"/>
              <a:t>M3–12</a:t>
            </a:r>
            <a:r>
              <a:rPr/>
              <a:t> : prendre le VTC (</a:t>
            </a:r>
            <a:r>
              <a:rPr b="1"/>
              <a:t>partenariat Yango</a:t>
            </a:r>
            <a:r>
              <a:rPr/>
              <a:t>, flottes indépendantes, 3 cas clients -20 %).</a:t>
            </a:r>
          </a:p>
          <a:p>
            <a:pPr lvl="0"/>
            <a:r>
              <a:rPr b="1"/>
              <a:t>M6–15</a:t>
            </a:r>
            <a:r>
              <a:rPr/>
              <a:t> : devenir le </a:t>
            </a:r>
            <a:r>
              <a:rPr b="1"/>
              <a:t>standard FNE-CI</a:t>
            </a:r>
            <a:r>
              <a:rPr/>
              <a:t> (vente aux DAF : « récupérez votre TVA »).</a:t>
            </a:r>
          </a:p>
          <a:p>
            <a:pPr lvl="0"/>
            <a:r>
              <a:rPr b="1"/>
              <a:t>M12–18</a:t>
            </a:r>
            <a:r>
              <a:rPr/>
              <a:t> : étendre BTP / transport collectif / corporate.</a:t>
            </a:r>
          </a:p>
          <a:p>
            <a:pPr lvl="0"/>
            <a:r>
              <a:rPr b="1"/>
              <a:t>M18–24</a:t>
            </a:r>
            <a:r>
              <a:rPr/>
              <a:t> : sortir d'Abidjan (Bouaké, San Pedro) + pilote sous-régional.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Concurrence &amp; douve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Concurrent réel = </a:t>
            </a:r>
            <a:r>
              <a:rPr b="1"/>
              <a:t>magasins + WhatsApp + Excel</a:t>
            </a:r>
            <a:r>
              <a:rPr/>
              <a:t>. Aucun acteur structuré à l'échelle nationale.</a:t>
            </a:r>
          </a:p>
          <a:p>
            <a:pPr lvl="0" indent="0" marL="0">
              <a:buNone/>
            </a:pPr>
            <a:r>
              <a:rPr/>
              <a:t>Notre douve, défendable à 36 mois :</a:t>
            </a:r>
          </a:p>
          <a:p>
            <a:pPr lvl="0"/>
            <a:r>
              <a:rPr b="1"/>
              <a:t>Cartographie de la chaîne + réseau Liaison</a:t>
            </a:r>
            <a:r>
              <a:rPr/>
              <a:t> — tous les acteurs (gros → détail, formels &amp; informels) et leurs produits digitalisés, même hors ligne (objectif 80 agents en 12 mois).</a:t>
            </a:r>
          </a:p>
          <a:p>
            <a:pPr lvl="0"/>
            <a:r>
              <a:rPr b="1"/>
              <a:t>Data fitments Côte d'Ivoire</a:t>
            </a:r>
            <a:r>
              <a:rPr/>
              <a:t> — inattaquable à 100 000 transactions.</a:t>
            </a:r>
          </a:p>
          <a:p>
            <a:pPr lvl="0"/>
            <a:r>
              <a:rPr b="1"/>
              <a:t>Paiement à la livraison + garantie</a:t>
            </a:r>
            <a:r>
              <a:rPr/>
              <a:t> — confiance dans un marché de méfiance.</a:t>
            </a:r>
          </a:p>
          <a:p>
            <a:pPr lvl="0"/>
            <a:r>
              <a:rPr b="1"/>
              <a:t>FNE-CI natif</a:t>
            </a:r>
            <a:r>
              <a:rPr/>
              <a:t> — verrou réglementaire.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Commandes/jour (fin)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Véhicules abonnés (fin)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~2,9 Mds 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~11,5 Mds 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~26 Mds 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Revenu 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~0,28 Md 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~1,15 Md 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~3,2 Mds 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EBITDA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négatif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≈ break-even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positif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 demande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Pre-seed </a:t>
            </a:r>
            <a:r>
              <a:rPr sz="2000" b="1"/>
              <a:t>~1 M EUR (≈ 655 M FCFA)</a:t>
            </a:r>
            <a:r>
              <a:rPr sz="2000"/>
              <a:t> — 18 à 20 mois de runway. Fourchette 0,7–1,3 M EUR selon l'ambition de calendrier. Justifié par l'intensité capitalistique du modèle (ops terrain + stock tampon).</a:t>
            </a:r>
          </a:p>
          <a:p>
            <a:pPr lvl="0" indent="0" marL="0">
              <a:buNone/>
            </a:pPr>
            <a:r>
              <a:rPr b="1"/>
              <a:t>Jalons débloqués</a:t>
            </a:r>
            <a:r>
              <a:rPr/>
              <a:t> : 1 500 véhicules abonnés, 600 commandes/jour, GMV &gt; 250 M F/mois, break-even Abidjan à M18 → </a:t>
            </a:r>
            <a:r>
              <a:rPr b="1"/>
              <a:t>Seed 4–6 M EUR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Emploi des fonds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Liaison &amp; opérations terrain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Commercial &amp; GTM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Produit &amp; tech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G&amp;A, finance, conformité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Fonds de roulement &amp; contingence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Devenir </a:t>
            </a:r>
            <a:r>
              <a:rPr sz="2000" b="1"/>
              <a:t>le standard de fait</a:t>
            </a:r>
            <a:r>
              <a:rPr sz="2000"/>
              <a:t> de la pièce auto en Afrique de l'Ouest francophone.</a:t>
            </a:r>
          </a:p>
          <a:p>
            <a:pPr lvl="0" indent="0" marL="0">
              <a:buNone/>
            </a:pPr>
            <a:r>
              <a:rPr/>
              <a:t>Abidjan d'abord. Puis la Côte d'Ivoire. Puis Dakar, Cotonou, et la sous-région — même modèle, même Mobile Money, même parc.</a:t>
            </a:r>
          </a:p>
          <a:p>
            <a:pPr lvl="0" indent="0" marL="0">
              <a:buNone/>
            </a:pPr>
            <a:r>
              <a:rPr b="1"/>
              <a:t>Pièces — votre flotte, votre coût, votre contrôle.</a:t>
            </a:r>
          </a:p>
          <a:p>
            <a:pPr lvl="0" indent="0" marL="0">
              <a:buNone/>
            </a:pPr>
            <a:r>
              <a:rPr i="1"/>
              <a:t>Contact : </a:t>
            </a:r>
            <a:r>
              <a:rPr i="1">
                <a:hlinkClick r:id="rId2"/>
              </a:rPr>
              <a:t>fernando.kouame@gmail.com</a:t>
            </a:r>
            <a:r>
              <a:rPr i="1"/>
              <a:t> · pieces.ci · Confidentiel · Juin 2026.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Pieces">
      <a:dk1>
        <a:sysClr val="windowText" lastClr="000000"/>
      </a:dk1>
      <a:lt1>
        <a:sysClr val="window" lastClr="FFFFFF"/>
      </a:lt1>
      <a:dk2>
        <a:srgbClr val="00113A"/>
      </a:dk2>
      <a:lt2>
        <a:srgbClr val="F5F5F4"/>
      </a:lt2>
      <a:accent1>
        <a:srgbClr val="FF6B00"/>
      </a:accent1>
      <a:accent2>
        <a:srgbClr val="00113A"/>
      </a:accent2>
      <a:accent3>
        <a:srgbClr val="888888"/>
      </a:accent3>
      <a:accent4>
        <a:srgbClr val="1A1A1A"/>
      </a:accent4>
      <a:accent5>
        <a:srgbClr val="FF8A33"/>
      </a:accent5>
      <a:accent6>
        <a:srgbClr val="00204F"/>
      </a:accent6>
      <a:hlink>
        <a:srgbClr val="FF6B00"/>
      </a:hlink>
      <a:folHlink>
        <a:srgbClr val="00113A"/>
      </a:folHlink>
    </a:clrScheme>
    <a:fontScheme name="Office">
      <a:majorFont>
        <a:latin typeface="Gloo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2026-07-17T21:36:06Z</dcterms:created>
  <dcterms:modified xsi:type="dcterms:W3CDTF">2026-07-17T21:36:06Z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